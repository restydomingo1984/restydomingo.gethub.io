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725" r:id="rId2"/>
    <p:sldId id="826" r:id="rId3"/>
    <p:sldId id="891" r:id="rId4"/>
    <p:sldId id="901" r:id="rId5"/>
    <p:sldId id="902" r:id="rId6"/>
    <p:sldId id="903" r:id="rId7"/>
    <p:sldId id="910" r:id="rId8"/>
    <p:sldId id="904" r:id="rId9"/>
    <p:sldId id="906" r:id="rId10"/>
    <p:sldId id="875" r:id="rId11"/>
    <p:sldId id="876" r:id="rId12"/>
    <p:sldId id="909" r:id="rId13"/>
    <p:sldId id="877" r:id="rId14"/>
    <p:sldId id="878" r:id="rId15"/>
    <p:sldId id="879" r:id="rId16"/>
    <p:sldId id="880" r:id="rId17"/>
    <p:sldId id="881" r:id="rId18"/>
    <p:sldId id="882" r:id="rId19"/>
    <p:sldId id="8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4"/>
    <p:restoredTop sz="81553" autoAdjust="0"/>
  </p:normalViewPr>
  <p:slideViewPr>
    <p:cSldViewPr snapToGrid="0">
      <p:cViewPr varScale="1">
        <p:scale>
          <a:sx n="101" d="100"/>
          <a:sy n="101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46788-6192-4B09-93EE-5B85DCD47C5F}" type="datetimeFigureOut">
              <a:rPr lang="en-AE" smtClean="0"/>
              <a:t>25/09/2025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20562-911F-400C-8D43-216FF50234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1811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20562-911F-400C-8D43-216FF50234F2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3988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20562-911F-400C-8D43-216FF50234F2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6400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Title Slide">
    <p:bg>
      <p:bgPr>
        <a:blipFill dpi="0" rotWithShape="1">
          <a:blip r:embed="rId2">
            <a:alphaModFix amt="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F24CF92-A4D9-5D43-A526-B0B128E447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74"/>
            <a:ext cx="12192309" cy="6858173"/>
          </a:xfrm>
          <a:prstGeom prst="rect">
            <a:avLst/>
          </a:prstGeom>
        </p:spPr>
      </p:pic>
      <p:sp>
        <p:nvSpPr>
          <p:cNvPr id="32" name="object 7">
            <a:extLst>
              <a:ext uri="{FF2B5EF4-FFF2-40B4-BE49-F238E27FC236}">
                <a16:creationId xmlns:a16="http://schemas.microsoft.com/office/drawing/2014/main" id="{BB353E94-B529-394E-8540-6819F4846BAF}"/>
              </a:ext>
            </a:extLst>
          </p:cNvPr>
          <p:cNvSpPr/>
          <p:nvPr userDrawn="1"/>
        </p:nvSpPr>
        <p:spPr>
          <a:xfrm>
            <a:off x="12110748" y="449967"/>
            <a:ext cx="80864" cy="5957719"/>
          </a:xfrm>
          <a:custGeom>
            <a:avLst/>
            <a:gdLst/>
            <a:ahLst/>
            <a:cxnLst/>
            <a:rect l="l" t="t" r="r" b="b"/>
            <a:pathLst>
              <a:path w="133350" h="9824720">
                <a:moveTo>
                  <a:pt x="0" y="9824496"/>
                </a:moveTo>
                <a:lnTo>
                  <a:pt x="133283" y="9824496"/>
                </a:lnTo>
                <a:lnTo>
                  <a:pt x="133283" y="0"/>
                </a:lnTo>
                <a:lnTo>
                  <a:pt x="0" y="0"/>
                </a:lnTo>
                <a:lnTo>
                  <a:pt x="0" y="9824496"/>
                </a:lnTo>
                <a:close/>
              </a:path>
            </a:pathLst>
          </a:custGeom>
          <a:solidFill>
            <a:srgbClr val="B4975A"/>
          </a:solidFill>
        </p:spPr>
        <p:txBody>
          <a:bodyPr wrap="square" lIns="0" tIns="0" rIns="0" bIns="0" rtlCol="0"/>
          <a:lstStyle/>
          <a:p>
            <a:endParaRPr sz="662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B21BB8C-03EC-9F43-BA10-F8D31ACEAB8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4998" y="441325"/>
            <a:ext cx="1993656" cy="390913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65176BD-E64F-064A-93C2-0FDA5E04FA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192" y="5661555"/>
            <a:ext cx="3925833" cy="220662"/>
          </a:xfrm>
          <a:prstGeom prst="rect">
            <a:avLst/>
          </a:prstGeom>
        </p:spPr>
        <p:txBody>
          <a:bodyPr lIns="0" anchor="ctr" anchorCtr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00 / 00 / 00</a:t>
            </a:r>
            <a:endParaRPr lang="en-US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C9DD1A9-A36A-B049-906E-43B542EFA8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998" y="4795262"/>
            <a:ext cx="5403513" cy="2327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600" b="0" i="0" cap="all" baseline="0">
                <a:solidFill>
                  <a:srgbClr val="B4975A"/>
                </a:solidFill>
                <a:latin typeface="Calibri Light" panose="020F0502020204030204" pitchFamily="34" charset="0"/>
                <a:cs typeface="Calibri Light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PREPARED BY or version number (optional)</a:t>
            </a:r>
            <a:endParaRPr lang="en-US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E71D02B-C69B-8041-9A53-74D6C2553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98" y="4540238"/>
            <a:ext cx="5403513" cy="2241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600" cap="all" baseline="0">
                <a:solidFill>
                  <a:srgbClr val="B4975A"/>
                </a:solidFill>
                <a:latin typeface="+mj-lt"/>
                <a:cs typeface="Verdana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Lifestyle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C2426B1E-4B8E-4B48-8321-FEFE57D17A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5012" y="2025653"/>
            <a:ext cx="5388938" cy="216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ct val="75000"/>
              </a:lnSpc>
              <a:defRPr sz="4800" b="0" i="0" cap="all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PRESENTATION</a:t>
            </a:r>
            <a:br>
              <a:rPr lang="en-GB"/>
            </a:br>
            <a:r>
              <a:rPr lang="en-GB"/>
              <a:t>TITLE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66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7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B519BBAA-BE16-1B42-A0FF-9EF0209A8371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243755" y="692150"/>
            <a:ext cx="6892558" cy="5724525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2000" baseline="0">
                <a:solidFill>
                  <a:srgbClr val="31251C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53AEA39-62A3-304C-9612-6D8C0798DA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695" y="2014728"/>
            <a:ext cx="2733430" cy="992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45714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1200" cap="none" baseline="0" smtClean="0">
                <a:solidFill>
                  <a:srgbClr val="31251C"/>
                </a:solidFill>
                <a:effectLst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1351F9D-7D4B-C848-9D43-92358580D0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045" y="1395146"/>
            <a:ext cx="2732080" cy="619582"/>
          </a:xfrm>
          <a:prstGeom prst="rect">
            <a:avLst/>
          </a:prstGeom>
        </p:spPr>
        <p:txBody>
          <a:bodyPr lIns="0" tIns="0" rIns="0" bIns="144000" anchor="t">
            <a:noAutofit/>
          </a:bodyPr>
          <a:lstStyle>
            <a:lvl1pPr marL="0" marR="0" indent="0" algn="l" defTabSz="457145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1600" b="0" i="0" cap="none" baseline="0" smtClean="0">
                <a:solidFill>
                  <a:schemeClr val="tx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Sub-headline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4E7C3B-E0B6-F94E-8AD2-71C66A00BC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695" y="692150"/>
            <a:ext cx="2733430" cy="692468"/>
          </a:xfrm>
          <a:prstGeom prst="rect">
            <a:avLst/>
          </a:prstGeom>
        </p:spPr>
        <p:txBody>
          <a:bodyPr wrap="square" lIns="0" tIns="36000" rIns="0" bIns="144000"/>
          <a:lstStyle>
            <a:lvl1pPr marL="0" marR="0" indent="0" algn="l" defTabSz="457145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2200" b="0" i="0" baseline="0" smtClean="0">
                <a:solidFill>
                  <a:srgbClr val="31251C"/>
                </a:solidFill>
                <a:effectLst/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945330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pos="77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22D8EFA-5F82-45D8-B59C-D4EEA8F95E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>
                <a:cs typeface="Calibri"/>
              </a:rPr>
            </a:br>
            <a:r>
              <a:rPr lang="en-US" dirty="0" err="1">
                <a:cs typeface="Calibri"/>
              </a:rPr>
              <a:t>Allsaints</a:t>
            </a:r>
            <a:r>
              <a:rPr lang="en-US" dirty="0">
                <a:cs typeface="Calibri"/>
              </a:rPr>
              <a:t> DATA TRACKING </a:t>
            </a:r>
            <a:br>
              <a:rPr lang="en-US" dirty="0"/>
            </a:br>
            <a:r>
              <a:rPr lang="en-US" dirty="0">
                <a:cs typeface="Calibri"/>
              </a:rPr>
              <a:t>REFERENCE PHOTOS MOE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46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B95D6-7716-0877-965F-8F791B4AA0D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6695" y="692150"/>
            <a:ext cx="2733430" cy="692468"/>
          </a:xfrm>
        </p:spPr>
        <p:txBody>
          <a:bodyPr vert="horz" wrap="square" lIns="0" tIns="36000" rIns="0" bIns="14400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>
                <a:cs typeface="Calibri"/>
              </a:rPr>
              <a:t>MONTHLY REPORT 2025</a:t>
            </a:r>
            <a:endParaRPr lang="en-US" sz="2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CC40A9-D5EE-DCA3-CAC2-D100E8FCE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749950"/>
              </p:ext>
            </p:extLst>
          </p:nvPr>
        </p:nvGraphicFramePr>
        <p:xfrm>
          <a:off x="607391" y="1546086"/>
          <a:ext cx="10335300" cy="20097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5627">
                  <a:extLst>
                    <a:ext uri="{9D8B030D-6E8A-4147-A177-3AD203B41FA5}">
                      <a16:colId xmlns:a16="http://schemas.microsoft.com/office/drawing/2014/main" val="2016622683"/>
                    </a:ext>
                  </a:extLst>
                </a:gridCol>
                <a:gridCol w="774554">
                  <a:extLst>
                    <a:ext uri="{9D8B030D-6E8A-4147-A177-3AD203B41FA5}">
                      <a16:colId xmlns:a16="http://schemas.microsoft.com/office/drawing/2014/main" val="4167641706"/>
                    </a:ext>
                  </a:extLst>
                </a:gridCol>
                <a:gridCol w="774554">
                  <a:extLst>
                    <a:ext uri="{9D8B030D-6E8A-4147-A177-3AD203B41FA5}">
                      <a16:colId xmlns:a16="http://schemas.microsoft.com/office/drawing/2014/main" val="690098770"/>
                    </a:ext>
                  </a:extLst>
                </a:gridCol>
                <a:gridCol w="747845">
                  <a:extLst>
                    <a:ext uri="{9D8B030D-6E8A-4147-A177-3AD203B41FA5}">
                      <a16:colId xmlns:a16="http://schemas.microsoft.com/office/drawing/2014/main" val="605134663"/>
                    </a:ext>
                  </a:extLst>
                </a:gridCol>
                <a:gridCol w="668257">
                  <a:extLst>
                    <a:ext uri="{9D8B030D-6E8A-4147-A177-3AD203B41FA5}">
                      <a16:colId xmlns:a16="http://schemas.microsoft.com/office/drawing/2014/main" val="1532258256"/>
                    </a:ext>
                  </a:extLst>
                </a:gridCol>
                <a:gridCol w="814616">
                  <a:extLst>
                    <a:ext uri="{9D8B030D-6E8A-4147-A177-3AD203B41FA5}">
                      <a16:colId xmlns:a16="http://schemas.microsoft.com/office/drawing/2014/main" val="2478725074"/>
                    </a:ext>
                  </a:extLst>
                </a:gridCol>
                <a:gridCol w="685686">
                  <a:extLst>
                    <a:ext uri="{9D8B030D-6E8A-4147-A177-3AD203B41FA5}">
                      <a16:colId xmlns:a16="http://schemas.microsoft.com/office/drawing/2014/main" val="4232442426"/>
                    </a:ext>
                  </a:extLst>
                </a:gridCol>
                <a:gridCol w="637687">
                  <a:extLst>
                    <a:ext uri="{9D8B030D-6E8A-4147-A177-3AD203B41FA5}">
                      <a16:colId xmlns:a16="http://schemas.microsoft.com/office/drawing/2014/main" val="2036865057"/>
                    </a:ext>
                  </a:extLst>
                </a:gridCol>
                <a:gridCol w="707781">
                  <a:extLst>
                    <a:ext uri="{9D8B030D-6E8A-4147-A177-3AD203B41FA5}">
                      <a16:colId xmlns:a16="http://schemas.microsoft.com/office/drawing/2014/main" val="2525387299"/>
                    </a:ext>
                  </a:extLst>
                </a:gridCol>
                <a:gridCol w="854678">
                  <a:extLst>
                    <a:ext uri="{9D8B030D-6E8A-4147-A177-3AD203B41FA5}">
                      <a16:colId xmlns:a16="http://schemas.microsoft.com/office/drawing/2014/main" val="2046744528"/>
                    </a:ext>
                  </a:extLst>
                </a:gridCol>
                <a:gridCol w="694426">
                  <a:extLst>
                    <a:ext uri="{9D8B030D-6E8A-4147-A177-3AD203B41FA5}">
                      <a16:colId xmlns:a16="http://schemas.microsoft.com/office/drawing/2014/main" val="2556682726"/>
                    </a:ext>
                  </a:extLst>
                </a:gridCol>
                <a:gridCol w="721135">
                  <a:extLst>
                    <a:ext uri="{9D8B030D-6E8A-4147-A177-3AD203B41FA5}">
                      <a16:colId xmlns:a16="http://schemas.microsoft.com/office/drawing/2014/main" val="542360900"/>
                    </a:ext>
                  </a:extLst>
                </a:gridCol>
                <a:gridCol w="798454">
                  <a:extLst>
                    <a:ext uri="{9D8B030D-6E8A-4147-A177-3AD203B41FA5}">
                      <a16:colId xmlns:a16="http://schemas.microsoft.com/office/drawing/2014/main" val="749144003"/>
                    </a:ext>
                  </a:extLst>
                </a:gridCol>
              </a:tblGrid>
              <a:tr h="233426"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January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February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March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April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May 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June 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July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August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September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November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December</a:t>
                      </a:r>
                    </a:p>
                  </a:txBody>
                  <a:tcPr marL="96192" marR="57715" marT="57715" marB="57715" anchor="ctr"/>
                </a:tc>
                <a:extLst>
                  <a:ext uri="{0D108BD9-81ED-4DB2-BD59-A6C34878D82A}">
                    <a16:rowId xmlns:a16="http://schemas.microsoft.com/office/drawing/2014/main" val="3518663603"/>
                  </a:ext>
                </a:extLst>
              </a:tr>
              <a:tr h="233426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Actual AED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1716451366"/>
                  </a:ext>
                </a:extLst>
              </a:tr>
              <a:tr h="336031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Benchmark AED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923606573"/>
                  </a:ext>
                </a:extLst>
              </a:tr>
              <a:tr h="233426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Growth %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b="0" i="0" u="none" strike="noStrike" cap="none" spc="0" noProof="0" dirty="0">
                        <a:solidFill>
                          <a:srgbClr val="594334"/>
                        </a:solidFill>
                        <a:effectLst/>
                        <a:latin typeface="Calibri"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  <a:p>
                      <a:pPr algn="r"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3900481415"/>
                  </a:ext>
                </a:extLst>
              </a:tr>
              <a:tr h="336031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Amount Growth AED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110706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03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0DB17F-7934-F471-177D-8C69FD3FC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22287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May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5/13/2025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6/2/2025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 days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3,675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8E8588-208D-7CAF-5CDB-017E2B8C5809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Womenswear.Follow</a:t>
            </a:r>
            <a:r>
              <a:rPr lang="en-US" sz="3200" dirty="0">
                <a:ea typeface="+mn-lt"/>
                <a:cs typeface="+mn-lt"/>
              </a:rPr>
              <a:t> the </a:t>
            </a:r>
            <a:r>
              <a:rPr lang="en-US" sz="3200" dirty="0" err="1">
                <a:ea typeface="+mn-lt"/>
                <a:cs typeface="+mn-lt"/>
              </a:rPr>
              <a:t>sun.Summer</a:t>
            </a:r>
            <a:r>
              <a:rPr lang="en-US" sz="3200" dirty="0">
                <a:ea typeface="+mn-lt"/>
                <a:cs typeface="+mn-lt"/>
              </a:rPr>
              <a:t> 2025.May Directive. </a:t>
            </a:r>
            <a:endParaRPr lang="en-US" dirty="0"/>
          </a:p>
        </p:txBody>
      </p:sp>
      <p:pic>
        <p:nvPicPr>
          <p:cNvPr id="5" name="Picture 4" descr="A storefront with mannequins in a dress&#10;&#10;Description automatically generated">
            <a:extLst>
              <a:ext uri="{FF2B5EF4-FFF2-40B4-BE49-F238E27FC236}">
                <a16:creationId xmlns:a16="http://schemas.microsoft.com/office/drawing/2014/main" id="{8BDF1968-2E59-E981-4915-052285914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036" y="1973405"/>
            <a:ext cx="9144000" cy="459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1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E8ED6A-9244-C5EF-19FD-D29C85F4E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243273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Julne</a:t>
                      </a:r>
                      <a:r>
                        <a:rPr lang="en-US" sz="900" u="none" strike="noStrike" dirty="0">
                          <a:effectLst/>
                        </a:rPr>
                        <a:t>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6/17/2025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7/2/2025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8,100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454C0D7-AE6F-891B-5F85-12F8E44CDD92}"/>
              </a:ext>
            </a:extLst>
          </p:cNvPr>
          <p:cNvSpPr txBox="1"/>
          <p:nvPr/>
        </p:nvSpPr>
        <p:spPr>
          <a:xfrm>
            <a:off x="546339" y="545696"/>
            <a:ext cx="8361045" cy="4830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>
                <a:ea typeface="+mn-lt"/>
                <a:cs typeface="+mn-lt"/>
              </a:rPr>
              <a:t>. </a:t>
            </a:r>
            <a:endParaRPr lang="en-US" dirty="0"/>
          </a:p>
        </p:txBody>
      </p:sp>
      <p:pic>
        <p:nvPicPr>
          <p:cNvPr id="5" name="Picture 4" descr="A group of mannequins in a store&#10;&#10;Description automatically generated">
            <a:extLst>
              <a:ext uri="{FF2B5EF4-FFF2-40B4-BE49-F238E27FC236}">
                <a16:creationId xmlns:a16="http://schemas.microsoft.com/office/drawing/2014/main" id="{6CDC44B0-B4AC-6D1A-1757-73FEDA2B2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063" y="2053754"/>
            <a:ext cx="9144000" cy="45531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F54FE6-1787-D8DF-952A-CF1230CAD168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Womenswear.solstice</a:t>
            </a:r>
            <a:r>
              <a:rPr lang="en-US" sz="3200" dirty="0">
                <a:ea typeface="+mn-lt"/>
                <a:cs typeface="+mn-lt"/>
              </a:rPr>
              <a:t> sunset pt2.Summer 2025. June Directive.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1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1F8F36-2391-750F-5F0B-4B5B4BFC9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23517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Julne</a:t>
                      </a:r>
                      <a:r>
                        <a:rPr lang="en-US" sz="900" u="none" strike="noStrike" dirty="0">
                          <a:effectLst/>
                        </a:rPr>
                        <a:t>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7/16/2025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7/28/2025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3,435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ABFACB0-4F58-3C74-1F66-54E6B7A96A7C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Womenswear.summer</a:t>
            </a:r>
            <a:r>
              <a:rPr lang="en-US" sz="3200" dirty="0">
                <a:ea typeface="+mn-lt"/>
                <a:cs typeface="+mn-lt"/>
              </a:rPr>
              <a:t> in the city .summer 2025 June directive. </a:t>
            </a:r>
            <a:endParaRPr lang="en-US" dirty="0"/>
          </a:p>
        </p:txBody>
      </p:sp>
      <p:pic>
        <p:nvPicPr>
          <p:cNvPr id="5" name="Picture 4" descr="A mannequins in a store&#10;&#10;Description automatically generated">
            <a:extLst>
              <a:ext uri="{FF2B5EF4-FFF2-40B4-BE49-F238E27FC236}">
                <a16:creationId xmlns:a16="http://schemas.microsoft.com/office/drawing/2014/main" id="{E987C104-1731-7CFE-0BA5-DBB423AC9D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822" y="2053754"/>
            <a:ext cx="3734389" cy="48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7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844D8F-8DF7-04BE-A958-52B8FC5DB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64329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June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06/26/2025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07/07/2024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8,010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39DCF7-EE7D-4D0B-18D7-5B62C2EB0DC0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Menswear.On-sea.festival.summer</a:t>
            </a:r>
            <a:r>
              <a:rPr lang="en-US" sz="3200" dirty="0">
                <a:ea typeface="+mn-lt"/>
                <a:cs typeface="+mn-lt"/>
              </a:rPr>
              <a:t> 2025.June directive.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6D846-9B46-F4CD-AB08-706974943D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22961" y="579752"/>
            <a:ext cx="4784103" cy="74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59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nnequins in a store&#10;&#10;Description automatically generated">
            <a:extLst>
              <a:ext uri="{FF2B5EF4-FFF2-40B4-BE49-F238E27FC236}">
                <a16:creationId xmlns:a16="http://schemas.microsoft.com/office/drawing/2014/main" id="{73C17A30-DD5D-FB78-9B53-15733A5C7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8" y="2073896"/>
            <a:ext cx="6376555" cy="47841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A57911-0BED-C2FC-4CDC-662F8C03BA1E}"/>
              </a:ext>
            </a:extLst>
          </p:cNvPr>
          <p:cNvSpPr txBox="1"/>
          <p:nvPr/>
        </p:nvSpPr>
        <p:spPr>
          <a:xfrm>
            <a:off x="1146414" y="45505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Menswear.On-sea.festival.summer</a:t>
            </a:r>
            <a:r>
              <a:rPr lang="en-US" sz="3200" dirty="0">
                <a:ea typeface="+mn-lt"/>
                <a:cs typeface="+mn-lt"/>
              </a:rPr>
              <a:t> 2025.June directive.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FC53C-B57A-7AD6-30C9-8569048D2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57261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June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06/26/2025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07/07/2024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6,180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74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72505B-6A70-5F2D-242B-353853AA2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07297"/>
              </p:ext>
            </p:extLst>
          </p:nvPr>
        </p:nvGraphicFramePr>
        <p:xfrm>
          <a:off x="546339" y="1286773"/>
          <a:ext cx="9359904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678029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entrance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July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7/12/2025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7/28/2025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 days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13,240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5C467F-4298-AD3A-EA4D-5EBA15C4E755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Womenswear.Summer</a:t>
            </a:r>
            <a:r>
              <a:rPr lang="en-US" sz="3200" dirty="0">
                <a:ea typeface="+mn-lt"/>
                <a:cs typeface="+mn-lt"/>
              </a:rPr>
              <a:t> in the </a:t>
            </a:r>
            <a:r>
              <a:rPr lang="en-US" sz="3200" dirty="0" err="1">
                <a:ea typeface="+mn-lt"/>
                <a:cs typeface="+mn-lt"/>
              </a:rPr>
              <a:t>city.summer</a:t>
            </a:r>
            <a:r>
              <a:rPr lang="en-US" sz="3200" dirty="0">
                <a:ea typeface="+mn-lt"/>
                <a:cs typeface="+mn-lt"/>
              </a:rPr>
              <a:t> 2025. June direct </a:t>
            </a:r>
            <a:r>
              <a:rPr lang="en-US" sz="3200" dirty="0" err="1">
                <a:ea typeface="+mn-lt"/>
                <a:cs typeface="+mn-lt"/>
              </a:rPr>
              <a:t>tive</a:t>
            </a:r>
            <a:r>
              <a:rPr lang="en-US" sz="3200" dirty="0">
                <a:ea typeface="+mn-lt"/>
                <a:cs typeface="+mn-lt"/>
              </a:rPr>
              <a:t>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9D4AD-A0A2-2A6C-9A02-01D8236DB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10" y="2053754"/>
            <a:ext cx="9144000" cy="471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41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A76834-1A8C-1BCE-D4F3-8BE0F0AAC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352341"/>
              </p:ext>
            </p:extLst>
          </p:nvPr>
        </p:nvGraphicFramePr>
        <p:xfrm>
          <a:off x="546339" y="934279"/>
          <a:ext cx="9633356" cy="5764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2239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352542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Wall display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July summer 2025.iniative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07/07/2025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7/17/2025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41,892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44D3B3-28BF-314B-13D5-F78EAC3E124C}"/>
              </a:ext>
            </a:extLst>
          </p:cNvPr>
          <p:cNvSpPr txBox="1"/>
          <p:nvPr/>
        </p:nvSpPr>
        <p:spPr>
          <a:xfrm>
            <a:off x="631180" y="192847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>
                <a:ea typeface="+mn-lt"/>
                <a:cs typeface="+mn-lt"/>
              </a:rPr>
              <a:t>Menswear. </a:t>
            </a:r>
            <a:r>
              <a:rPr lang="en-US" sz="3200" dirty="0" err="1">
                <a:ea typeface="+mn-lt"/>
                <a:cs typeface="+mn-lt"/>
              </a:rPr>
              <a:t>Sweamwear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initiative.summer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july</a:t>
            </a:r>
            <a:r>
              <a:rPr lang="en-US" sz="3200" dirty="0">
                <a:ea typeface="+mn-lt"/>
                <a:cs typeface="+mn-lt"/>
              </a:rPr>
              <a:t>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B4AD17-7637-EC18-EAF6-2C3EECABC0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46" y="1786628"/>
            <a:ext cx="5341855" cy="4736969"/>
          </a:xfrm>
          <a:prstGeom prst="rect">
            <a:avLst/>
          </a:prstGeom>
        </p:spPr>
      </p:pic>
      <p:pic>
        <p:nvPicPr>
          <p:cNvPr id="11" name="Picture 10" descr="A mannequin in a clothing store&#10;&#10;Description automatically generated">
            <a:extLst>
              <a:ext uri="{FF2B5EF4-FFF2-40B4-BE49-F238E27FC236}">
                <a16:creationId xmlns:a16="http://schemas.microsoft.com/office/drawing/2014/main" id="{90C65EBB-4398-1B70-232B-2D46812B74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195" y="1786628"/>
            <a:ext cx="4889690" cy="473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4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677966-7A81-A46B-5C49-6A5977A77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842946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July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7/28/2025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8/07/2024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 days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11,440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46C10D9-618F-8B15-F8C4-DA58EE6053CB}"/>
              </a:ext>
            </a:extLst>
          </p:cNvPr>
          <p:cNvSpPr txBox="1"/>
          <p:nvPr/>
        </p:nvSpPr>
        <p:spPr>
          <a:xfrm>
            <a:off x="546339" y="545696"/>
            <a:ext cx="8361045" cy="4830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>
                <a:ea typeface="+mn-lt"/>
                <a:cs typeface="+mn-lt"/>
              </a:rPr>
              <a:t>evolution of </a:t>
            </a:r>
            <a:r>
              <a:rPr lang="en-US" sz="3200" dirty="0" err="1">
                <a:ea typeface="+mn-lt"/>
                <a:cs typeface="+mn-lt"/>
              </a:rPr>
              <a:t>eden</a:t>
            </a:r>
            <a:r>
              <a:rPr lang="en-US" sz="3200" dirty="0">
                <a:ea typeface="+mn-lt"/>
                <a:cs typeface="+mn-lt"/>
              </a:rPr>
              <a:t>. </a:t>
            </a:r>
            <a:r>
              <a:rPr lang="en-US" sz="3200" dirty="0" err="1">
                <a:ea typeface="+mn-lt"/>
                <a:cs typeface="+mn-lt"/>
              </a:rPr>
              <a:t>parklife</a:t>
            </a:r>
            <a:r>
              <a:rPr lang="en-US" sz="3200" dirty="0">
                <a:ea typeface="+mn-lt"/>
                <a:cs typeface="+mn-lt"/>
              </a:rPr>
              <a:t>. </a:t>
            </a:r>
            <a:endParaRPr lang="en-US" dirty="0"/>
          </a:p>
        </p:txBody>
      </p:sp>
      <p:pic>
        <p:nvPicPr>
          <p:cNvPr id="5" name="Picture 4" descr="A storefront with mannequins in front of a window&#10;&#10;Description automatically generated">
            <a:extLst>
              <a:ext uri="{FF2B5EF4-FFF2-40B4-BE49-F238E27FC236}">
                <a16:creationId xmlns:a16="http://schemas.microsoft.com/office/drawing/2014/main" id="{379192C1-990A-A543-865D-FDCA7159B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95" y="1960776"/>
            <a:ext cx="9144000" cy="472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7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9838BB-5C7E-9106-E2BB-16EC80AB1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53130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UNITS SOLD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0142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July 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07/28/2025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08/17/2024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9,970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i="0" u="none" strike="noStrike" noProof="0">
                        <a:solidFill>
                          <a:srgbClr val="444444"/>
                        </a:solidFill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D721C9A-1554-B662-235E-26F0E2B1EAB6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Womenswear.Reclaimed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Eden.Summer</a:t>
            </a:r>
            <a:r>
              <a:rPr lang="en-US" sz="3200" dirty="0">
                <a:ea typeface="+mn-lt"/>
                <a:cs typeface="+mn-lt"/>
              </a:rPr>
              <a:t> 2025.July Directive </a:t>
            </a:r>
            <a:endParaRPr lang="en-US" dirty="0"/>
          </a:p>
        </p:txBody>
      </p:sp>
      <p:pic>
        <p:nvPicPr>
          <p:cNvPr id="5" name="Picture 4" descr="A storefront with mannequins in red&#10;&#10;Description automatically generated">
            <a:extLst>
              <a:ext uri="{FF2B5EF4-FFF2-40B4-BE49-F238E27FC236}">
                <a16:creationId xmlns:a16="http://schemas.microsoft.com/office/drawing/2014/main" id="{BAA05D9B-4278-4915-C772-F3F2F8832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896592"/>
            <a:ext cx="7100888" cy="48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2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torefront with mannequins in front of a window&#10;&#10;Description automatically generated">
            <a:extLst>
              <a:ext uri="{FF2B5EF4-FFF2-40B4-BE49-F238E27FC236}">
                <a16:creationId xmlns:a16="http://schemas.microsoft.com/office/drawing/2014/main" id="{FBB4C371-CE8E-FBC0-6C23-44AC109EA5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75" y="2053753"/>
            <a:ext cx="6357937" cy="48042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A9A86B-0281-ADAD-96C8-2A54A5D998ED}"/>
              </a:ext>
            </a:extLst>
          </p:cNvPr>
          <p:cNvSpPr txBox="1"/>
          <p:nvPr/>
        </p:nvSpPr>
        <p:spPr>
          <a:xfrm>
            <a:off x="1475027" y="217084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Womenswear.Reclaimed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Eden.Summer</a:t>
            </a:r>
            <a:r>
              <a:rPr lang="en-US" sz="3200" dirty="0">
                <a:ea typeface="+mn-lt"/>
                <a:cs typeface="+mn-lt"/>
              </a:rPr>
              <a:t> 2025.July Directive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1E755-D482-45F1-41CA-38912E35E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009136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UNITS SOLD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VALUE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0142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July 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07/28/2025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08/17/2024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12,815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i="0" u="none" strike="noStrike" noProof="0">
                        <a:solidFill>
                          <a:srgbClr val="444444"/>
                        </a:solidFill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93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34C25F-65F0-30CD-4A8F-B73BDBB40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70898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July 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07/28/2025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08/07/202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14,350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44CD6A-CF85-348F-3CE1-CF8B7EC0CD6F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Menswear.villa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nellcote.summer</a:t>
            </a:r>
            <a:r>
              <a:rPr lang="en-US" sz="3200" dirty="0">
                <a:ea typeface="+mn-lt"/>
                <a:cs typeface="+mn-lt"/>
              </a:rPr>
              <a:t> in the </a:t>
            </a:r>
            <a:r>
              <a:rPr lang="en-US" sz="3200" dirty="0" err="1">
                <a:ea typeface="+mn-lt"/>
                <a:cs typeface="+mn-lt"/>
              </a:rPr>
              <a:t>sea.Summer</a:t>
            </a:r>
            <a:r>
              <a:rPr lang="en-US" sz="3200" dirty="0">
                <a:ea typeface="+mn-lt"/>
                <a:cs typeface="+mn-lt"/>
              </a:rPr>
              <a:t> 2025 July Directive. </a:t>
            </a:r>
            <a:endParaRPr lang="en-US" dirty="0"/>
          </a:p>
        </p:txBody>
      </p:sp>
      <p:pic>
        <p:nvPicPr>
          <p:cNvPr id="5" name="Picture 4" descr="A storefront with mannequins and surfboard&#10;&#10;Description automatically generated">
            <a:extLst>
              <a:ext uri="{FF2B5EF4-FFF2-40B4-BE49-F238E27FC236}">
                <a16:creationId xmlns:a16="http://schemas.microsoft.com/office/drawing/2014/main" id="{129FAF60-D598-DABA-3613-384FCB553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9" y="1910522"/>
            <a:ext cx="6607095" cy="458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55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9EC363-493F-A59F-963C-065D9FFC1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60460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Slow seller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August 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08/20/2025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09/01/2025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2,720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8E291A5-C3EE-93A5-9C3F-EE171E54342B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>
                <a:ea typeface="+mn-lt"/>
                <a:cs typeface="+mn-lt"/>
              </a:rPr>
              <a:t>Menswear. Leather destination. Autumn 2025 August Directive.</a:t>
            </a:r>
            <a:endParaRPr lang="en-US" dirty="0"/>
          </a:p>
        </p:txBody>
      </p:sp>
      <p:pic>
        <p:nvPicPr>
          <p:cNvPr id="5" name="Picture 4" descr="Two mannequins wearing clothes in a store&#10;&#10;Description automatically generated">
            <a:extLst>
              <a:ext uri="{FF2B5EF4-FFF2-40B4-BE49-F238E27FC236}">
                <a16:creationId xmlns:a16="http://schemas.microsoft.com/office/drawing/2014/main" id="{AB0AC3C0-D4FC-376D-0730-BE5411DEA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01" y="1884071"/>
            <a:ext cx="5143500" cy="48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62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944B8B-7776-1412-48A8-5FFFCE64D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94200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Instore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Mannequine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August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08/07/2025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08/28/2025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 days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8,845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7D33B2-DE2E-F990-5402-061060F57562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Womenswear.Reclaim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Eden.Autumn</a:t>
            </a:r>
            <a:r>
              <a:rPr lang="en-US" sz="3200" dirty="0">
                <a:ea typeface="+mn-lt"/>
                <a:cs typeface="+mn-lt"/>
              </a:rPr>
              <a:t> 2025 August Directive. </a:t>
            </a:r>
            <a:endParaRPr lang="en-US" dirty="0"/>
          </a:p>
        </p:txBody>
      </p:sp>
      <p:pic>
        <p:nvPicPr>
          <p:cNvPr id="5" name="Picture 4" descr="A group of mannequins in a clothing store&#10;&#10;Description automatically generated">
            <a:extLst>
              <a:ext uri="{FF2B5EF4-FFF2-40B4-BE49-F238E27FC236}">
                <a16:creationId xmlns:a16="http://schemas.microsoft.com/office/drawing/2014/main" id="{8C032C18-BEAC-161B-D4AC-82802A562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312" y="1951348"/>
            <a:ext cx="6334812" cy="477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0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F235A2-B509-8508-BBD2-976C5DB7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60527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DURATION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UNITS SOLD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August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08/08/2025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9/6/2025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weekas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3,675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74D430-E84F-C927-E603-C4085ED690F7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Womensweear.Reclaim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Eden.Autumn</a:t>
            </a:r>
            <a:r>
              <a:rPr lang="en-US" sz="3200" dirty="0">
                <a:ea typeface="+mn-lt"/>
                <a:cs typeface="+mn-lt"/>
              </a:rPr>
              <a:t> 2025.August Directive. </a:t>
            </a:r>
            <a:endParaRPr lang="en-US" dirty="0"/>
          </a:p>
        </p:txBody>
      </p:sp>
      <p:pic>
        <p:nvPicPr>
          <p:cNvPr id="7" name="Picture 6" descr="A storefront with mannequins in the window&#10;&#10;Description automatically generated">
            <a:extLst>
              <a:ext uri="{FF2B5EF4-FFF2-40B4-BE49-F238E27FC236}">
                <a16:creationId xmlns:a16="http://schemas.microsoft.com/office/drawing/2014/main" id="{B2D13186-F86E-033B-ECFD-5ED3C25F3F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2" y="2139122"/>
            <a:ext cx="7429500" cy="425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15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9B27F4-B8DF-48BB-86EB-64CD92F9C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71787"/>
              </p:ext>
            </p:extLst>
          </p:nvPr>
        </p:nvGraphicFramePr>
        <p:xfrm>
          <a:off x="546339" y="1286773"/>
          <a:ext cx="9633356" cy="508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76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August 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08/08/2025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08/20/2025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7,315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171C20-4351-617B-F310-251A02D83673}"/>
              </a:ext>
            </a:extLst>
          </p:cNvPr>
          <p:cNvSpPr txBox="1"/>
          <p:nvPr/>
        </p:nvSpPr>
        <p:spPr>
          <a:xfrm>
            <a:off x="658501" y="117952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Menswear.united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kingdom.Autumn</a:t>
            </a:r>
            <a:r>
              <a:rPr lang="en-US" sz="3200" dirty="0">
                <a:ea typeface="+mn-lt"/>
                <a:cs typeface="+mn-lt"/>
              </a:rPr>
              <a:t> 2025.August 2025 </a:t>
            </a:r>
            <a:endParaRPr lang="en-US" dirty="0"/>
          </a:p>
        </p:txBody>
      </p:sp>
      <p:pic>
        <p:nvPicPr>
          <p:cNvPr id="5" name="Picture 4" descr="A window display of a store&#10;&#10;Description automatically generated">
            <a:extLst>
              <a:ext uri="{FF2B5EF4-FFF2-40B4-BE49-F238E27FC236}">
                <a16:creationId xmlns:a16="http://schemas.microsoft.com/office/drawing/2014/main" id="{10819319-36E7-5EFA-5301-36D78D93A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01" y="2168165"/>
            <a:ext cx="4931594" cy="4326902"/>
          </a:xfrm>
          <a:prstGeom prst="rect">
            <a:avLst/>
          </a:prstGeom>
        </p:spPr>
      </p:pic>
      <p:pic>
        <p:nvPicPr>
          <p:cNvPr id="7" name="Picture 6" descr="A store front with mannequins in a store&#10;&#10;Description automatically generated">
            <a:extLst>
              <a:ext uri="{FF2B5EF4-FFF2-40B4-BE49-F238E27FC236}">
                <a16:creationId xmlns:a16="http://schemas.microsoft.com/office/drawing/2014/main" id="{9D748E29-6E5D-AB71-F999-6BAEDDB0C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535" y="2168165"/>
            <a:ext cx="5013293" cy="432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16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55C3FD-8804-C367-DB71-66E22F6F5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223148"/>
              </p:ext>
            </p:extLst>
          </p:nvPr>
        </p:nvGraphicFramePr>
        <p:xfrm>
          <a:off x="546339" y="1286773"/>
          <a:ext cx="9633356" cy="787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47603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145454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August 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08/20/2025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09/01/2025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6,235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1BF022-1419-02AA-0A32-76D6BB37EA55}"/>
              </a:ext>
            </a:extLst>
          </p:cNvPr>
          <p:cNvSpPr txBox="1"/>
          <p:nvPr/>
        </p:nvSpPr>
        <p:spPr>
          <a:xfrm>
            <a:off x="546339" y="545696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Womenswear.Reclaimed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Eden.Autumn</a:t>
            </a:r>
            <a:r>
              <a:rPr lang="en-US" sz="3200" dirty="0">
                <a:ea typeface="+mn-lt"/>
                <a:cs typeface="+mn-lt"/>
              </a:rPr>
              <a:t> 2025.August Directive.</a:t>
            </a:r>
            <a:endParaRPr lang="en-US" dirty="0"/>
          </a:p>
        </p:txBody>
      </p:sp>
      <p:pic>
        <p:nvPicPr>
          <p:cNvPr id="5" name="Picture 4" descr="A storefront with mannequins in front of a window&#10;&#10;Description automatically generated">
            <a:extLst>
              <a:ext uri="{FF2B5EF4-FFF2-40B4-BE49-F238E27FC236}">
                <a16:creationId xmlns:a16="http://schemas.microsoft.com/office/drawing/2014/main" id="{9038B9C7-FC73-AAA5-4A97-09326E2C3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74" y="2139122"/>
            <a:ext cx="8286160" cy="45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10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mannequins in a store&#10;&#10;Description automatically generated">
            <a:extLst>
              <a:ext uri="{FF2B5EF4-FFF2-40B4-BE49-F238E27FC236}">
                <a16:creationId xmlns:a16="http://schemas.microsoft.com/office/drawing/2014/main" id="{2C700953-E015-345A-63D4-EF87B89FEF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8" y="1819921"/>
            <a:ext cx="5291666" cy="3968749"/>
          </a:xfrm>
          <a:prstGeom prst="rect">
            <a:avLst/>
          </a:prstGeom>
        </p:spPr>
      </p:pic>
      <p:pic>
        <p:nvPicPr>
          <p:cNvPr id="25" name="Picture 24" descr="A mannequins in a store window&#10;&#10;Description automatically generated">
            <a:extLst>
              <a:ext uri="{FF2B5EF4-FFF2-40B4-BE49-F238E27FC236}">
                <a16:creationId xmlns:a16="http://schemas.microsoft.com/office/drawing/2014/main" id="{53D57F49-6CD3-264F-7DA9-F40D554884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819920"/>
            <a:ext cx="5291667" cy="3968750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C182F0F-540B-611E-0B31-956777329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453288"/>
              </p:ext>
            </p:extLst>
          </p:nvPr>
        </p:nvGraphicFramePr>
        <p:xfrm>
          <a:off x="546339" y="1069330"/>
          <a:ext cx="9633356" cy="454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721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141387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857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8936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843987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664669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951481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4044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ACTIVATION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DESCRIPTION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304402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>
                          <a:effectLst/>
                        </a:rPr>
                        <a:t> </a:t>
                      </a:r>
                      <a:r>
                        <a:rPr lang="en-AE" sz="900" u="none" strike="noStrike" err="1">
                          <a:effectLst/>
                        </a:rPr>
                        <a:t>AllSaints</a:t>
                      </a:r>
                      <a:r>
                        <a:rPr lang="en-AE" sz="900" u="none" strike="noStrike">
                          <a:effectLst/>
                        </a:rPr>
                        <a:t> MOE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August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08/20/2025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09/01/2025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10,255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0E04F50-CD89-145B-21AA-901FAA463F65}"/>
              </a:ext>
            </a:extLst>
          </p:cNvPr>
          <p:cNvSpPr txBox="1"/>
          <p:nvPr/>
        </p:nvSpPr>
        <p:spPr>
          <a:xfrm>
            <a:off x="546339" y="183619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Menswear.United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kingdom.Last</a:t>
            </a:r>
            <a:r>
              <a:rPr lang="en-US" sz="3200" dirty="0">
                <a:ea typeface="+mn-lt"/>
                <a:cs typeface="+mn-lt"/>
              </a:rPr>
              <a:t> BBQ of the </a:t>
            </a:r>
            <a:r>
              <a:rPr lang="en-US" sz="3200" dirty="0" err="1">
                <a:ea typeface="+mn-lt"/>
                <a:cs typeface="+mn-lt"/>
              </a:rPr>
              <a:t>year.Autumn</a:t>
            </a:r>
            <a:r>
              <a:rPr lang="en-US" sz="3200" dirty="0">
                <a:ea typeface="+mn-lt"/>
                <a:cs typeface="+mn-lt"/>
              </a:rPr>
              <a:t> 2025.August DIRECTIVE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3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2747</TotalTime>
  <Words>638</Words>
  <Application>Microsoft Macintosh PowerPoint</Application>
  <PresentationFormat>Widescreen</PresentationFormat>
  <Paragraphs>325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office theme</vt:lpstr>
      <vt:lpstr> Allsaints DATA TRACKING  REFERENCE PHOTOS MOE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Allsaints DATA TRACKING  REFERENCE PHOTOS </dc:title>
  <dc:creator>Diana Samadova</dc:creator>
  <cp:lastModifiedBy>mac</cp:lastModifiedBy>
  <cp:revision>14</cp:revision>
  <dcterms:created xsi:type="dcterms:W3CDTF">2025-01-17T09:52:33Z</dcterms:created>
  <dcterms:modified xsi:type="dcterms:W3CDTF">2025-09-25T12:23:32Z</dcterms:modified>
</cp:coreProperties>
</file>