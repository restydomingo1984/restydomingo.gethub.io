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25" r:id="rId2"/>
    <p:sldId id="826" r:id="rId3"/>
    <p:sldId id="830" r:id="rId4"/>
    <p:sldId id="831" r:id="rId5"/>
    <p:sldId id="832" r:id="rId6"/>
    <p:sldId id="833" r:id="rId7"/>
    <p:sldId id="8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26"/>
  </p:normalViewPr>
  <p:slideViewPr>
    <p:cSldViewPr snapToGrid="0">
      <p:cViewPr varScale="1">
        <p:scale>
          <a:sx n="83" d="100"/>
          <a:sy n="83" d="100"/>
        </p:scale>
        <p:origin x="1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Title Slide">
    <p:bg>
      <p:bgPr>
        <a:blipFill dpi="0" rotWithShape="1">
          <a:blip r:embed="rId2">
            <a:alphaModFix amt="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F24CF92-A4D9-5D43-A526-B0B128E44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74"/>
            <a:ext cx="12192309" cy="6858173"/>
          </a:xfrm>
          <a:prstGeom prst="rect">
            <a:avLst/>
          </a:prstGeom>
        </p:spPr>
      </p:pic>
      <p:sp>
        <p:nvSpPr>
          <p:cNvPr id="32" name="object 7">
            <a:extLst>
              <a:ext uri="{FF2B5EF4-FFF2-40B4-BE49-F238E27FC236}">
                <a16:creationId xmlns:a16="http://schemas.microsoft.com/office/drawing/2014/main" id="{BB353E94-B529-394E-8540-6819F4846BAF}"/>
              </a:ext>
            </a:extLst>
          </p:cNvPr>
          <p:cNvSpPr/>
          <p:nvPr userDrawn="1"/>
        </p:nvSpPr>
        <p:spPr>
          <a:xfrm>
            <a:off x="12110748" y="449967"/>
            <a:ext cx="80864" cy="5957719"/>
          </a:xfrm>
          <a:custGeom>
            <a:avLst/>
            <a:gdLst/>
            <a:ahLst/>
            <a:cxnLst/>
            <a:rect l="l" t="t" r="r" b="b"/>
            <a:pathLst>
              <a:path w="133350" h="9824720">
                <a:moveTo>
                  <a:pt x="0" y="9824496"/>
                </a:moveTo>
                <a:lnTo>
                  <a:pt x="133283" y="9824496"/>
                </a:lnTo>
                <a:lnTo>
                  <a:pt x="133283" y="0"/>
                </a:lnTo>
                <a:lnTo>
                  <a:pt x="0" y="0"/>
                </a:lnTo>
                <a:lnTo>
                  <a:pt x="0" y="9824496"/>
                </a:lnTo>
                <a:close/>
              </a:path>
            </a:pathLst>
          </a:custGeom>
          <a:solidFill>
            <a:srgbClr val="B4975A"/>
          </a:solidFill>
        </p:spPr>
        <p:txBody>
          <a:bodyPr wrap="square" lIns="0" tIns="0" rIns="0" bIns="0" rtlCol="0"/>
          <a:lstStyle/>
          <a:p>
            <a:endParaRPr sz="662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B21BB8C-03EC-9F43-BA10-F8D31ACEAB8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4998" y="441325"/>
            <a:ext cx="1993656" cy="390913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65176BD-E64F-064A-93C2-0FDA5E04FA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192" y="5661555"/>
            <a:ext cx="3925833" cy="220662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00 / 00 / 00</a:t>
            </a:r>
            <a:endParaRPr lang="en-US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C9DD1A9-A36A-B049-906E-43B542EFA8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998" y="4795262"/>
            <a:ext cx="5403513" cy="2327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600" b="0" i="0" cap="all" baseline="0">
                <a:solidFill>
                  <a:srgbClr val="B4975A"/>
                </a:solidFill>
                <a:latin typeface="Calibri Light" panose="020F0502020204030204" pitchFamily="34" charset="0"/>
                <a:cs typeface="Calibri Light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PREPARED BY or version number (optional)</a:t>
            </a:r>
            <a:endParaRPr lang="en-US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E71D02B-C69B-8041-9A53-74D6C2553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98" y="4540238"/>
            <a:ext cx="5403513" cy="2241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600" cap="all" baseline="0">
                <a:solidFill>
                  <a:srgbClr val="B4975A"/>
                </a:solidFill>
                <a:latin typeface="+mj-lt"/>
                <a:cs typeface="Verdana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Lifestyle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2426B1E-4B8E-4B48-8321-FEFE57D17A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5012" y="2025653"/>
            <a:ext cx="5388938" cy="216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ct val="75000"/>
              </a:lnSpc>
              <a:defRPr sz="4800" b="0" i="0" cap="all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/>
              <a:t>PRESENTATION</a:t>
            </a:r>
            <a:br>
              <a:rPr lang="en-GB"/>
            </a:br>
            <a:r>
              <a:rPr lang="en-GB"/>
              <a:t>TITLE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6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7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519BBAA-BE16-1B42-A0FF-9EF0209A8371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243755" y="692150"/>
            <a:ext cx="6892558" cy="5724525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2000" baseline="0">
                <a:solidFill>
                  <a:srgbClr val="31251C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53AEA39-62A3-304C-9612-6D8C0798DA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695" y="2014728"/>
            <a:ext cx="2733430" cy="992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45714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1200" cap="none" baseline="0" smtClean="0">
                <a:solidFill>
                  <a:srgbClr val="31251C"/>
                </a:solidFill>
                <a:effectLst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1351F9D-7D4B-C848-9D43-92358580D0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045" y="1395146"/>
            <a:ext cx="2732080" cy="619582"/>
          </a:xfrm>
          <a:prstGeom prst="rect">
            <a:avLst/>
          </a:prstGeom>
        </p:spPr>
        <p:txBody>
          <a:bodyPr lIns="0" tIns="0" rIns="0" bIns="144000" anchor="t">
            <a:noAutofit/>
          </a:bodyPr>
          <a:lstStyle>
            <a:lvl1pPr marL="0" marR="0" indent="0" algn="l" defTabSz="457145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1600" b="0" i="0" cap="none" baseline="0" smtClean="0">
                <a:solidFill>
                  <a:schemeClr val="tx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Sub-headline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4E7C3B-E0B6-F94E-8AD2-71C66A00BC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695" y="692150"/>
            <a:ext cx="2733430" cy="692468"/>
          </a:xfrm>
          <a:prstGeom prst="rect">
            <a:avLst/>
          </a:prstGeom>
        </p:spPr>
        <p:txBody>
          <a:bodyPr wrap="square" lIns="0" tIns="36000" rIns="0" bIns="144000"/>
          <a:lstStyle>
            <a:lvl1pPr marL="0" marR="0" indent="0" algn="l" defTabSz="457145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2200" b="0" i="0" baseline="0" smtClean="0">
                <a:solidFill>
                  <a:srgbClr val="31251C"/>
                </a:solidFill>
                <a:effectLst/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945330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pos="77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22D8EFA-5F82-45D8-B59C-D4EEA8F95E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>
                <a:cs typeface="Calibri"/>
              </a:rPr>
            </a:br>
            <a:r>
              <a:rPr lang="en-US" dirty="0" err="1">
                <a:cs typeface="Calibri"/>
              </a:rPr>
              <a:t>Allsaints</a:t>
            </a:r>
            <a:r>
              <a:rPr lang="en-US" dirty="0">
                <a:cs typeface="Calibri"/>
              </a:rPr>
              <a:t> DATA TRACKING </a:t>
            </a:r>
            <a:br>
              <a:rPr lang="en-US" dirty="0"/>
            </a:br>
            <a:r>
              <a:rPr lang="en-US" dirty="0">
                <a:cs typeface="Calibri"/>
              </a:rPr>
              <a:t>REFERENCE PHOTOS -</a:t>
            </a:r>
            <a:r>
              <a:rPr lang="en-US">
                <a:cs typeface="Calibri"/>
              </a:rPr>
              <a:t>moe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46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B95D6-7716-0877-965F-8F791B4AA0D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6695" y="692150"/>
            <a:ext cx="2733430" cy="692468"/>
          </a:xfrm>
        </p:spPr>
        <p:txBody>
          <a:bodyPr vert="horz" wrap="square" lIns="0" tIns="36000" rIns="0" bIns="14400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>
                <a:cs typeface="Calibri"/>
              </a:rPr>
              <a:t>MONTHLY REPORT 2025</a:t>
            </a:r>
            <a:endParaRPr lang="en-US" sz="2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CC40A9-D5EE-DCA3-CAC2-D100E8FCE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86079"/>
              </p:ext>
            </p:extLst>
          </p:nvPr>
        </p:nvGraphicFramePr>
        <p:xfrm>
          <a:off x="607391" y="1546086"/>
          <a:ext cx="10483618" cy="2162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5627">
                  <a:extLst>
                    <a:ext uri="{9D8B030D-6E8A-4147-A177-3AD203B41FA5}">
                      <a16:colId xmlns:a16="http://schemas.microsoft.com/office/drawing/2014/main" val="2016622683"/>
                    </a:ext>
                  </a:extLst>
                </a:gridCol>
                <a:gridCol w="774554">
                  <a:extLst>
                    <a:ext uri="{9D8B030D-6E8A-4147-A177-3AD203B41FA5}">
                      <a16:colId xmlns:a16="http://schemas.microsoft.com/office/drawing/2014/main" val="4167641706"/>
                    </a:ext>
                  </a:extLst>
                </a:gridCol>
                <a:gridCol w="774554">
                  <a:extLst>
                    <a:ext uri="{9D8B030D-6E8A-4147-A177-3AD203B41FA5}">
                      <a16:colId xmlns:a16="http://schemas.microsoft.com/office/drawing/2014/main" val="690098770"/>
                    </a:ext>
                  </a:extLst>
                </a:gridCol>
                <a:gridCol w="743306">
                  <a:extLst>
                    <a:ext uri="{9D8B030D-6E8A-4147-A177-3AD203B41FA5}">
                      <a16:colId xmlns:a16="http://schemas.microsoft.com/office/drawing/2014/main" val="605134663"/>
                    </a:ext>
                  </a:extLst>
                </a:gridCol>
                <a:gridCol w="641046">
                  <a:extLst>
                    <a:ext uri="{9D8B030D-6E8A-4147-A177-3AD203B41FA5}">
                      <a16:colId xmlns:a16="http://schemas.microsoft.com/office/drawing/2014/main" val="1532258256"/>
                    </a:ext>
                  </a:extLst>
                </a:gridCol>
                <a:gridCol w="757990">
                  <a:extLst>
                    <a:ext uri="{9D8B030D-6E8A-4147-A177-3AD203B41FA5}">
                      <a16:colId xmlns:a16="http://schemas.microsoft.com/office/drawing/2014/main" val="2478725074"/>
                    </a:ext>
                  </a:extLst>
                </a:gridCol>
                <a:gridCol w="825576">
                  <a:extLst>
                    <a:ext uri="{9D8B030D-6E8A-4147-A177-3AD203B41FA5}">
                      <a16:colId xmlns:a16="http://schemas.microsoft.com/office/drawing/2014/main" val="4232442426"/>
                    </a:ext>
                  </a:extLst>
                </a:gridCol>
                <a:gridCol w="734491">
                  <a:extLst>
                    <a:ext uri="{9D8B030D-6E8A-4147-A177-3AD203B41FA5}">
                      <a16:colId xmlns:a16="http://schemas.microsoft.com/office/drawing/2014/main" val="2036865057"/>
                    </a:ext>
                  </a:extLst>
                </a:gridCol>
                <a:gridCol w="707781">
                  <a:extLst>
                    <a:ext uri="{9D8B030D-6E8A-4147-A177-3AD203B41FA5}">
                      <a16:colId xmlns:a16="http://schemas.microsoft.com/office/drawing/2014/main" val="2525387299"/>
                    </a:ext>
                  </a:extLst>
                </a:gridCol>
                <a:gridCol w="854678">
                  <a:extLst>
                    <a:ext uri="{9D8B030D-6E8A-4147-A177-3AD203B41FA5}">
                      <a16:colId xmlns:a16="http://schemas.microsoft.com/office/drawing/2014/main" val="2046744528"/>
                    </a:ext>
                  </a:extLst>
                </a:gridCol>
                <a:gridCol w="694426">
                  <a:extLst>
                    <a:ext uri="{9D8B030D-6E8A-4147-A177-3AD203B41FA5}">
                      <a16:colId xmlns:a16="http://schemas.microsoft.com/office/drawing/2014/main" val="2556682726"/>
                    </a:ext>
                  </a:extLst>
                </a:gridCol>
                <a:gridCol w="721135">
                  <a:extLst>
                    <a:ext uri="{9D8B030D-6E8A-4147-A177-3AD203B41FA5}">
                      <a16:colId xmlns:a16="http://schemas.microsoft.com/office/drawing/2014/main" val="542360900"/>
                    </a:ext>
                  </a:extLst>
                </a:gridCol>
                <a:gridCol w="798454">
                  <a:extLst>
                    <a:ext uri="{9D8B030D-6E8A-4147-A177-3AD203B41FA5}">
                      <a16:colId xmlns:a16="http://schemas.microsoft.com/office/drawing/2014/main" val="749144003"/>
                    </a:ext>
                  </a:extLst>
                </a:gridCol>
              </a:tblGrid>
              <a:tr h="233426"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January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February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March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April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May 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June 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July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August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September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November</a:t>
                      </a:r>
                    </a:p>
                  </a:txBody>
                  <a:tcPr marL="96192" marR="57715" marT="57715" marB="57715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December</a:t>
                      </a:r>
                    </a:p>
                  </a:txBody>
                  <a:tcPr marL="96192" marR="57715" marT="57715" marB="57715" anchor="ctr"/>
                </a:tc>
                <a:extLst>
                  <a:ext uri="{0D108BD9-81ED-4DB2-BD59-A6C34878D82A}">
                    <a16:rowId xmlns:a16="http://schemas.microsoft.com/office/drawing/2014/main" val="3518663603"/>
                  </a:ext>
                </a:extLst>
              </a:tr>
              <a:tr h="233426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Actual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000" b="0" i="0" u="none" strike="noStrike" cap="none" spc="0" noProof="0" dirty="0">
                        <a:solidFill>
                          <a:srgbClr val="594334"/>
                        </a:solidFill>
                        <a:effectLst/>
                        <a:latin typeface="Calibri"/>
                      </a:endParaRPr>
                    </a:p>
                    <a:p>
                      <a:pPr lvl="0" algn="r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1716451366"/>
                  </a:ext>
                </a:extLst>
              </a:tr>
              <a:tr h="336031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Benchmark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b="0" i="0" u="none" strike="noStrike" cap="none" spc="0" noProof="0" dirty="0">
                        <a:solidFill>
                          <a:srgbClr val="594334"/>
                        </a:solidFill>
                        <a:effectLst/>
                        <a:latin typeface="Calibri"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923606573"/>
                  </a:ext>
                </a:extLst>
              </a:tr>
              <a:tr h="233426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Growth %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3900481415"/>
                  </a:ext>
                </a:extLst>
              </a:tr>
              <a:tr h="336031">
                <a:tc>
                  <a:txBody>
                    <a:bodyPr/>
                    <a:lstStyle/>
                    <a:p>
                      <a:pPr fontAlgn="b"/>
                      <a:r>
                        <a:rPr lang="en-US" sz="1000" cap="none" spc="0">
                          <a:solidFill>
                            <a:srgbClr val="594334"/>
                          </a:solidFill>
                          <a:effectLst/>
                        </a:rPr>
                        <a:t>Amount Growth AED</a:t>
                      </a: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cap="none" spc="0" dirty="0">
                          <a:solidFill>
                            <a:srgbClr val="594334"/>
                          </a:solidFill>
                          <a:effectLst/>
                        </a:rPr>
                        <a:t>-</a:t>
                      </a:r>
                    </a:p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cap="none" spc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tc>
                  <a:txBody>
                    <a:bodyPr/>
                    <a:lstStyle/>
                    <a:p>
                      <a:pPr fontAlgn="b"/>
                      <a:endParaRPr lang="en-US" sz="1000" cap="none" spc="0" dirty="0">
                        <a:solidFill>
                          <a:srgbClr val="594334"/>
                        </a:solidFill>
                        <a:effectLst/>
                      </a:endParaRPr>
                    </a:p>
                  </a:txBody>
                  <a:tcPr marL="96192" marR="57715" marT="57715" marB="57715" anchor="b"/>
                </a:tc>
                <a:extLst>
                  <a:ext uri="{0D108BD9-81ED-4DB2-BD59-A6C34878D82A}">
                    <a16:rowId xmlns:a16="http://schemas.microsoft.com/office/drawing/2014/main" val="110706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03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7ADB9-FB1D-14AF-D2DF-22E858D958C7}"/>
              </a:ext>
            </a:extLst>
          </p:cNvPr>
          <p:cNvSpPr txBox="1"/>
          <p:nvPr/>
        </p:nvSpPr>
        <p:spPr>
          <a:xfrm>
            <a:off x="1915477" y="116237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Menswear.Winter</a:t>
            </a:r>
            <a:r>
              <a:rPr lang="en-US" sz="3200" dirty="0">
                <a:ea typeface="+mn-lt"/>
                <a:cs typeface="+mn-lt"/>
              </a:rPr>
              <a:t> 2025.Events.January  Update,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ADEDFA-6D4E-6A5A-6F94-683F60420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97485"/>
              </p:ext>
            </p:extLst>
          </p:nvPr>
        </p:nvGraphicFramePr>
        <p:xfrm>
          <a:off x="1000353" y="968586"/>
          <a:ext cx="9633353" cy="627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325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9468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788989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903464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767682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818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ACTIVATION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DESCRIPTION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END DATE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42955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effectLst/>
                        </a:rPr>
                        <a:t> MOE Allsiants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January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01/05/2025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01/15/2026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 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20,854.27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0B073AA-4B92-15DF-8357-7752B3B26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681" y="2017408"/>
            <a:ext cx="6623120" cy="46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5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7861B0-2F2A-54CD-D901-2B5CB48FC717}"/>
              </a:ext>
            </a:extLst>
          </p:cNvPr>
          <p:cNvSpPr txBox="1"/>
          <p:nvPr/>
        </p:nvSpPr>
        <p:spPr>
          <a:xfrm>
            <a:off x="2225443" y="139485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Womenswear.Icon.Winter</a:t>
            </a:r>
            <a:r>
              <a:rPr lang="en-US" sz="3200" dirty="0">
                <a:ea typeface="+mn-lt"/>
                <a:cs typeface="+mn-lt"/>
              </a:rPr>
              <a:t> 2025.January Update,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C81764-E3DA-EF29-664E-E1361D1A7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858428"/>
              </p:ext>
            </p:extLst>
          </p:nvPr>
        </p:nvGraphicFramePr>
        <p:xfrm>
          <a:off x="1000353" y="968586"/>
          <a:ext cx="9633353" cy="627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325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9468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788989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903464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767682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818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ACTIVATION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DESCRIPTION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END DATE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42955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effectLst/>
                        </a:rPr>
                        <a:t> MOE Allsaints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November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01/05/2026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01/15/2026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 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52,332.38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4599F46-0B7E-ECB5-42AF-51C41AA9F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051" y="1820935"/>
            <a:ext cx="6411495" cy="480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9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A700F-2871-14F0-5285-70D0F7985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277324"/>
              </p:ext>
            </p:extLst>
          </p:nvPr>
        </p:nvGraphicFramePr>
        <p:xfrm>
          <a:off x="1000353" y="968586"/>
          <a:ext cx="9633353" cy="627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325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9468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788989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903464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767682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818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ACTIVATION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DESCRIPTION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END DATE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42955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effectLst/>
                        </a:rPr>
                        <a:t> MOE Allsaints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Entrance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November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01/07/2026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01/15/2026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i="0" u="none" strike="noStrike" noProof="0" dirty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87F5BC-78A5-5667-D3CE-7C48E2EA7A20}"/>
              </a:ext>
            </a:extLst>
          </p:cNvPr>
          <p:cNvSpPr txBox="1"/>
          <p:nvPr/>
        </p:nvSpPr>
        <p:spPr>
          <a:xfrm>
            <a:off x="2225443" y="139485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Womenswear.Icon.Winter</a:t>
            </a:r>
            <a:r>
              <a:rPr lang="en-US" sz="3200" dirty="0">
                <a:ea typeface="+mn-lt"/>
                <a:cs typeface="+mn-lt"/>
              </a:rPr>
              <a:t> 2025.January Update,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83BDE-B45B-CB77-A1CE-263B4A208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43" y="1820935"/>
            <a:ext cx="6427327" cy="482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4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307AD-8B85-CE17-D271-2F88FFCE5E1E}"/>
              </a:ext>
            </a:extLst>
          </p:cNvPr>
          <p:cNvSpPr txBox="1"/>
          <p:nvPr/>
        </p:nvSpPr>
        <p:spPr>
          <a:xfrm>
            <a:off x="2225443" y="139485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Womenswear.Tender</a:t>
            </a:r>
            <a:r>
              <a:rPr lang="en-US" sz="3200" dirty="0">
                <a:ea typeface="+mn-lt"/>
                <a:cs typeface="+mn-lt"/>
              </a:rPr>
              <a:t> is the </a:t>
            </a:r>
            <a:r>
              <a:rPr lang="en-US" sz="3200" dirty="0" err="1">
                <a:ea typeface="+mn-lt"/>
                <a:cs typeface="+mn-lt"/>
              </a:rPr>
              <a:t>Dawn.Spring</a:t>
            </a:r>
            <a:r>
              <a:rPr lang="en-US" sz="3200" dirty="0">
                <a:ea typeface="+mn-lt"/>
                <a:cs typeface="+mn-lt"/>
              </a:rPr>
              <a:t> 2026.January Directive.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89E4F9-CB3E-8251-75FC-BC6E87020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008506"/>
              </p:ext>
            </p:extLst>
          </p:nvPr>
        </p:nvGraphicFramePr>
        <p:xfrm>
          <a:off x="1000353" y="968586"/>
          <a:ext cx="9633353" cy="627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325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9468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788989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903464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767682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818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ACTIVATION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DESCRIPTION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END DATE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VALUE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BENCHMARK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42955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Allsants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January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01/15/2026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01/31/2025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i="0" u="none" strike="noStrike" noProof="0" dirty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3FBD316-295E-6A2C-1FE1-E9319058F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16" y="1820935"/>
            <a:ext cx="6434447" cy="482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7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1B9BBB-C996-539F-9FB0-CEE96F72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69416"/>
              </p:ext>
            </p:extLst>
          </p:nvPr>
        </p:nvGraphicFramePr>
        <p:xfrm>
          <a:off x="1000353" y="968586"/>
          <a:ext cx="9633353" cy="627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4074303197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333921988"/>
                    </a:ext>
                  </a:extLst>
                </a:gridCol>
                <a:gridCol w="1232587">
                  <a:extLst>
                    <a:ext uri="{9D8B030D-6E8A-4147-A177-3AD203B41FA5}">
                      <a16:colId xmlns:a16="http://schemas.microsoft.com/office/drawing/2014/main" val="1915954287"/>
                    </a:ext>
                  </a:extLst>
                </a:gridCol>
                <a:gridCol w="946822">
                  <a:extLst>
                    <a:ext uri="{9D8B030D-6E8A-4147-A177-3AD203B41FA5}">
                      <a16:colId xmlns:a16="http://schemas.microsoft.com/office/drawing/2014/main" val="1746417858"/>
                    </a:ext>
                  </a:extLst>
                </a:gridCol>
                <a:gridCol w="788989">
                  <a:extLst>
                    <a:ext uri="{9D8B030D-6E8A-4147-A177-3AD203B41FA5}">
                      <a16:colId xmlns:a16="http://schemas.microsoft.com/office/drawing/2014/main" val="3582932286"/>
                    </a:ext>
                  </a:extLst>
                </a:gridCol>
                <a:gridCol w="903464">
                  <a:extLst>
                    <a:ext uri="{9D8B030D-6E8A-4147-A177-3AD203B41FA5}">
                      <a16:colId xmlns:a16="http://schemas.microsoft.com/office/drawing/2014/main" val="125757433"/>
                    </a:ext>
                  </a:extLst>
                </a:gridCol>
                <a:gridCol w="767682">
                  <a:extLst>
                    <a:ext uri="{9D8B030D-6E8A-4147-A177-3AD203B41FA5}">
                      <a16:colId xmlns:a16="http://schemas.microsoft.com/office/drawing/2014/main" val="361540646"/>
                    </a:ext>
                  </a:extLst>
                </a:gridCol>
                <a:gridCol w="816474">
                  <a:extLst>
                    <a:ext uri="{9D8B030D-6E8A-4147-A177-3AD203B41FA5}">
                      <a16:colId xmlns:a16="http://schemas.microsoft.com/office/drawing/2014/main" val="2225855695"/>
                    </a:ext>
                  </a:extLst>
                </a:gridCol>
                <a:gridCol w="2272228">
                  <a:extLst>
                    <a:ext uri="{9D8B030D-6E8A-4147-A177-3AD203B41FA5}">
                      <a16:colId xmlns:a16="http://schemas.microsoft.com/office/drawing/2014/main" val="3840622546"/>
                    </a:ext>
                  </a:extLst>
                </a:gridCol>
              </a:tblGrid>
              <a:tr h="19818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BRAND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ACTIVATION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DESCRIPTION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START DATE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END DATE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DURATION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UNITS SOLD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VALUE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BENCHMARK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882944423"/>
                  </a:ext>
                </a:extLst>
              </a:tr>
              <a:tr h="429556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effectLst/>
                        </a:rPr>
                        <a:t> MOE Allsaints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January directive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01/31/2026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444444"/>
                          </a:solidFill>
                          <a:effectLst/>
                          <a:latin typeface="Calibri"/>
                        </a:rPr>
                        <a:t>01/15/2026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weeks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6,745.71</a:t>
                      </a:r>
                    </a:p>
                  </a:txBody>
                  <a:tcPr marL="6433" marR="6433" marT="6433" marB="0" anchor="b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dirty="0"/>
                    </a:p>
                  </a:txBody>
                  <a:tcPr marL="6433" marR="6433" marT="6433" marB="0" anchor="b"/>
                </a:tc>
                <a:extLst>
                  <a:ext uri="{0D108BD9-81ED-4DB2-BD59-A6C34878D82A}">
                    <a16:rowId xmlns:a16="http://schemas.microsoft.com/office/drawing/2014/main" val="32278303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03F6B5-54A1-738B-DE26-AF2B49EE9150}"/>
              </a:ext>
            </a:extLst>
          </p:cNvPr>
          <p:cNvSpPr txBox="1"/>
          <p:nvPr/>
        </p:nvSpPr>
        <p:spPr>
          <a:xfrm>
            <a:off x="2225443" y="139485"/>
            <a:ext cx="8361045" cy="8523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3200" dirty="0" err="1">
                <a:ea typeface="+mn-lt"/>
                <a:cs typeface="+mn-lt"/>
              </a:rPr>
              <a:t>Menswear.Field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Trip.Spring</a:t>
            </a:r>
            <a:r>
              <a:rPr lang="en-US" sz="3200" dirty="0">
                <a:ea typeface="+mn-lt"/>
                <a:cs typeface="+mn-lt"/>
              </a:rPr>
              <a:t> 2026.January Directive.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FD438-A453-FC94-D462-988825978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43" y="1820935"/>
            <a:ext cx="6463982" cy="484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5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4448</TotalTime>
  <Words>200</Words>
  <Application>Microsoft Macintosh PowerPoint</Application>
  <PresentationFormat>Widescreen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office theme</vt:lpstr>
      <vt:lpstr> Allsaints DATA TRACKING  REFERENCE PHOTOS -moe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Allsaints DATA TRACKING  REFERENCE PHOTOS </dc:title>
  <dc:creator>Diana Samadova</dc:creator>
  <cp:lastModifiedBy>mac</cp:lastModifiedBy>
  <cp:revision>19</cp:revision>
  <dcterms:created xsi:type="dcterms:W3CDTF">2025-01-17T09:52:33Z</dcterms:created>
  <dcterms:modified xsi:type="dcterms:W3CDTF">2026-02-21T06:18:41Z</dcterms:modified>
</cp:coreProperties>
</file>